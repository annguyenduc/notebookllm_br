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31520"/>
          </a:xfrm>
          <a:prstGeom prst="rect">
            <a:avLst/>
          </a:prstGeom>
          <a:noFill/>
        </p:spPr>
        <p:txBody>
          <a:bodyPr wrap="square" anchor="ctr">
            <a:normAutofit/>
          </a:bodyPr>
          <a:lstStyle/>
          <a:p>
            <a:pPr algn="ctr"/>
            <a:r>
              <a:rPr sz="4400" i="0" b="1">
                <a:solidFill>
                  <a:srgbClr val="FFFFFF"/>
                </a:solidFill>
                <a:latin typeface="Montserrat"/>
              </a:rPr>
              <a:t>GIẢI PHẪU PROMPT RTC</a:t>
            </a:r>
          </a:p>
        </p:txBody>
      </p:sp>
      <p:sp>
        <p:nvSpPr>
          <p:cNvPr id="4" name="TextBox 3"/>
          <p:cNvSpPr txBox="1"/>
          <p:nvPr/>
        </p:nvSpPr>
        <p:spPr>
          <a:xfrm>
            <a:off x="457200" y="822960"/>
            <a:ext cx="11274552" cy="365760"/>
          </a:xfrm>
          <a:prstGeom prst="rect">
            <a:avLst/>
          </a:prstGeom>
          <a:noFill/>
        </p:spPr>
        <p:txBody>
          <a:bodyPr wrap="square" anchor="ctr">
            <a:normAutofit/>
          </a:bodyPr>
          <a:lstStyle/>
          <a:p>
            <a:pPr algn="ctr"/>
            <a:r>
              <a:rPr sz="1800" i="0" b="0">
                <a:solidFill>
                  <a:srgbClr val="FFFFFF"/>
                </a:solidFill>
              </a:rPr>
              <a:t>Biến Gemini thành trợ thủ đắc lực bằng cấu trúc "Khối lắp ghép"</a:t>
            </a:r>
          </a:p>
        </p:txBody>
      </p:sp>
      <p:sp>
        <p:nvSpPr>
          <p:cNvPr id="5" name="Rounded Rectangle 4"/>
          <p:cNvSpPr/>
          <p:nvPr/>
        </p:nvSpPr>
        <p:spPr>
          <a:xfrm>
            <a:off x="731520" y="1371600"/>
            <a:ext cx="10725912" cy="5120640"/>
          </a:xfrm>
          <a:prstGeom prst="roundRect">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28800" y="1645919"/>
            <a:ext cx="274320" cy="182880"/>
          </a:xfrm>
          <a:prstGeom prst="ellipse">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737360"/>
            <a:ext cx="9966960" cy="914400"/>
          </a:xfrm>
          <a:prstGeom prst="roundRect">
            <a:avLst/>
          </a:prstGeom>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0160" y="1874519"/>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3498DB"/>
                </a:solidFill>
              </a:rPr>
              <a:t>R</a:t>
            </a:r>
          </a:p>
        </p:txBody>
      </p:sp>
      <p:sp>
        <p:nvSpPr>
          <p:cNvPr id="9" name="TextBox 8"/>
          <p:cNvSpPr txBox="1"/>
          <p:nvPr/>
        </p:nvSpPr>
        <p:spPr>
          <a:xfrm>
            <a:off x="2194560" y="1828800"/>
            <a:ext cx="8686800" cy="731520"/>
          </a:xfrm>
          <a:prstGeom prst="rect">
            <a:avLst/>
          </a:prstGeom>
          <a:noFill/>
        </p:spPr>
        <p:txBody>
          <a:bodyPr wrap="square" anchor="ctr">
            <a:normAutofit/>
          </a:bodyPr>
          <a:lstStyle/>
          <a:p>
            <a:pPr algn="l"/>
            <a:r>
              <a:rPr sz="2000" i="0" b="1">
                <a:solidFill>
                  <a:srgbClr val="FFFFFF"/>
                </a:solidFill>
              </a:rPr>
              <a:t>ROLE (Vai trò):</a:t>
            </a:r>
          </a:p>
          <a:p>
            <a:r>
              <a:rPr sz="1400">
                <a:solidFill>
                  <a:srgbClr val="FFFFFF"/>
                </a:solidFill>
              </a:rPr>
              <a:t>VD: Bạn là một giáo viên Toán giàu kinh nghiệm.</a:t>
            </a:r>
          </a:p>
        </p:txBody>
      </p:sp>
      <p:sp>
        <p:nvSpPr>
          <p:cNvPr id="10" name="Oval 9"/>
          <p:cNvSpPr/>
          <p:nvPr/>
        </p:nvSpPr>
        <p:spPr>
          <a:xfrm>
            <a:off x="1828800" y="2834640"/>
            <a:ext cx="274320" cy="182880"/>
          </a:xfrm>
          <a:prstGeom prst="ellipse">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2926080"/>
            <a:ext cx="9966960" cy="914400"/>
          </a:xfrm>
          <a:prstGeom prst="round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80160" y="3063240"/>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2ECC71"/>
                </a:solidFill>
              </a:rPr>
              <a:t>T</a:t>
            </a:r>
          </a:p>
        </p:txBody>
      </p:sp>
      <p:sp>
        <p:nvSpPr>
          <p:cNvPr id="13" name="TextBox 12"/>
          <p:cNvSpPr txBox="1"/>
          <p:nvPr/>
        </p:nvSpPr>
        <p:spPr>
          <a:xfrm>
            <a:off x="2194560" y="3017520"/>
            <a:ext cx="8686800" cy="731520"/>
          </a:xfrm>
          <a:prstGeom prst="rect">
            <a:avLst/>
          </a:prstGeom>
          <a:noFill/>
        </p:spPr>
        <p:txBody>
          <a:bodyPr wrap="square" anchor="ctr">
            <a:normAutofit/>
          </a:bodyPr>
          <a:lstStyle/>
          <a:p>
            <a:pPr algn="l"/>
            <a:r>
              <a:rPr sz="2000" i="0" b="1">
                <a:solidFill>
                  <a:srgbClr val="FFFFFF"/>
                </a:solidFill>
              </a:rPr>
              <a:t>TASK (Nhiệm vụ):</a:t>
            </a:r>
          </a:p>
          <a:p>
            <a:r>
              <a:rPr sz="1400">
                <a:solidFill>
                  <a:srgbClr val="FFFFFF"/>
                </a:solidFill>
              </a:rPr>
              <a:t>VD: Hãy giải thích cho mình các bước xét dấu tam thức x^2 - 5x + 6.</a:t>
            </a:r>
          </a:p>
        </p:txBody>
      </p:sp>
      <p:sp>
        <p:nvSpPr>
          <p:cNvPr id="14" name="Oval 13"/>
          <p:cNvSpPr/>
          <p:nvPr/>
        </p:nvSpPr>
        <p:spPr>
          <a:xfrm>
            <a:off x="1828800" y="4023360"/>
            <a:ext cx="274320" cy="182880"/>
          </a:xfrm>
          <a:prstGeom prst="ellipse">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97280" y="4114800"/>
            <a:ext cx="9966960" cy="914400"/>
          </a:xfrm>
          <a:prstGeom prst="roundRect">
            <a:avLst/>
          </a:prstGeom>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80160" y="4251960"/>
            <a:ext cx="640080" cy="64008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r>
              <a:rPr b="1" sz="2800">
                <a:solidFill>
                  <a:srgbClr val="E67E22"/>
                </a:solidFill>
              </a:rPr>
              <a:t>C</a:t>
            </a:r>
          </a:p>
        </p:txBody>
      </p:sp>
      <p:sp>
        <p:nvSpPr>
          <p:cNvPr id="17" name="TextBox 16"/>
          <p:cNvSpPr txBox="1"/>
          <p:nvPr/>
        </p:nvSpPr>
        <p:spPr>
          <a:xfrm>
            <a:off x="2194560" y="4206240"/>
            <a:ext cx="8686800" cy="731520"/>
          </a:xfrm>
          <a:prstGeom prst="rect">
            <a:avLst/>
          </a:prstGeom>
          <a:noFill/>
        </p:spPr>
        <p:txBody>
          <a:bodyPr wrap="square" anchor="ctr">
            <a:normAutofit/>
          </a:bodyPr>
          <a:lstStyle/>
          <a:p>
            <a:pPr algn="l"/>
            <a:r>
              <a:rPr sz="2000" i="0" b="1">
                <a:solidFill>
                  <a:srgbClr val="FFFFFF"/>
                </a:solidFill>
              </a:rPr>
              <a:t>CONTEXT (Ngữ cảnh):</a:t>
            </a:r>
          </a:p>
          <a:p>
            <a:r>
              <a:rPr sz="1400">
                <a:solidFill>
                  <a:srgbClr val="FFFFFF"/>
                </a:solidFill>
              </a:rPr>
              <a:t>VD: Hãy liệt kê các lỗi sai phổ biến để mình tránh bẫy kiến thức.</a:t>
            </a:r>
          </a:p>
        </p:txBody>
      </p:sp>
      <p:sp>
        <p:nvSpPr>
          <p:cNvPr id="18" name="Rounded Rectangle 17"/>
          <p:cNvSpPr/>
          <p:nvPr/>
        </p:nvSpPr>
        <p:spPr>
          <a:xfrm>
            <a:off x="1097280" y="5303520"/>
            <a:ext cx="9966960" cy="914400"/>
          </a:xfrm>
          <a:prstGeom prst="roundRect">
            <a:avLst/>
          </a:prstGeom>
          <a:solidFill>
            <a:srgbClr val="F8F9FA"/>
          </a:solidFill>
          <a:ln w="19050">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5394960"/>
            <a:ext cx="9601200" cy="731520"/>
          </a:xfrm>
          <a:prstGeom prst="rect">
            <a:avLst/>
          </a:prstGeom>
          <a:noFill/>
        </p:spPr>
        <p:txBody>
          <a:bodyPr wrap="square">
            <a:normAutofit/>
          </a:bodyPr>
          <a:lstStyle/>
          <a:p>
            <a:pPr algn="just"/>
            <a:r>
              <a:rPr sz="1400" i="1">
                <a:solidFill>
                  <a:srgbClr val="333333"/>
                </a:solidFill>
              </a:rPr>
              <a:t>
</a:t>
            </a:r>
            <a:r>
              <a:rPr b="1" sz="1400" i="1">
                <a:solidFill>
                  <a:srgbClr val="333333"/>
                </a:solidFill>
              </a:rPr>
              <a:t>Kết quả (Prompt hoàn chỉnh):</a:t>
            </a:r>
            <a:r>
              <a:rPr sz="1400" i="1">
                <a:solidFill>
                  <a:srgbClr val="333333"/>
                </a:solidFill>
              </a:rPr>
              <a:t>
            "</a:t>
            </a:r>
            <a:r>
              <a:rPr b="1" sz="1400" i="1">
                <a:solidFill>
                  <a:srgbClr val="3498DB"/>
                </a:solidFill>
              </a:rPr>
              <a:t>Đóng vai giáo viên Toán.</a:t>
            </a:r>
            <a:r>
              <a:rPr sz="1400" i="1">
                <a:solidFill>
                  <a:srgbClr val="333333"/>
                </a:solidFill>
              </a:rPr>
              <a:t> </a:t>
            </a:r>
            <a:r>
              <a:rPr b="1" sz="1400" i="1">
                <a:solidFill>
                  <a:srgbClr val="2ECC71"/>
                </a:solidFill>
              </a:rPr>
              <a:t>Hãy giải thích cho mình các bước xét dấu tam thức bậc hai x^2 - 5x + 6.</a:t>
            </a:r>
            <a:r>
              <a:rPr sz="1400" i="1">
                <a:solidFill>
                  <a:srgbClr val="333333"/>
                </a:solidFill>
              </a:rPr>
              <a:t> </a:t>
            </a:r>
            <a:r>
              <a:rPr b="1" sz="1400" i="1">
                <a:solidFill>
                  <a:srgbClr val="E67E22"/>
                </a:solidFill>
              </a:rPr>
              <a:t>Hãy liệt kê các lỗi sai phổ biến học sinh hay mắc ở phần này khi giải bất phương trình.</a:t>
            </a:r>
            <a:r>
              <a:rPr sz="1400" i="1">
                <a:solidFill>
                  <a:srgbClr val="333333"/>
                </a:solidFill>
              </a:rPr>
              <a: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4552" cy="731520"/>
          </a:xfrm>
          <a:prstGeom prst="rect">
            <a:avLst/>
          </a:prstGeom>
          <a:noFill/>
        </p:spPr>
        <p:txBody>
          <a:bodyPr wrap="square" anchor="ctr">
            <a:normAutofit/>
          </a:bodyPr>
          <a:lstStyle/>
          <a:p>
            <a:pPr algn="ctr"/>
            <a:r>
              <a:rPr sz="4400" i="0" b="1">
                <a:solidFill>
                  <a:srgbClr val="FFFFFF"/>
                </a:solidFill>
                <a:latin typeface="Montserrat"/>
              </a:rPr>
              <a:t>CUỘC CHIẾN ĐỘ DÀI VS CẤU TRÚC</a:t>
            </a:r>
          </a:p>
        </p:txBody>
      </p:sp>
      <p:sp>
        <p:nvSpPr>
          <p:cNvPr id="4" name="TextBox 3"/>
          <p:cNvSpPr txBox="1"/>
          <p:nvPr/>
        </p:nvSpPr>
        <p:spPr>
          <a:xfrm>
            <a:off x="457200" y="822960"/>
            <a:ext cx="11274552" cy="365760"/>
          </a:xfrm>
          <a:prstGeom prst="rect">
            <a:avLst/>
          </a:prstGeom>
          <a:noFill/>
        </p:spPr>
        <p:txBody>
          <a:bodyPr wrap="square" anchor="ctr">
            <a:normAutofit/>
          </a:bodyPr>
          <a:lstStyle/>
          <a:p>
            <a:pPr algn="ctr"/>
            <a:r>
              <a:rPr sz="1800" i="0" b="0">
                <a:solidFill>
                  <a:srgbClr val="FFFFFF"/>
                </a:solidFill>
              </a:rPr>
              <a:t>Tại sao viết dài không có nghĩa là viết đúng?</a:t>
            </a:r>
          </a:p>
        </p:txBody>
      </p:sp>
      <p:sp>
        <p:nvSpPr>
          <p:cNvPr id="5" name="Rounded Rectangle 4"/>
          <p:cNvSpPr/>
          <p:nvPr/>
        </p:nvSpPr>
        <p:spPr>
          <a:xfrm>
            <a:off x="457200" y="1371600"/>
            <a:ext cx="5486400" cy="914400"/>
          </a:xfrm>
          <a:prstGeom prst="roundRect">
            <a:avLst>
              <a:gd name="adj" fmla="val 15000"/>
            </a:avLst>
          </a:prstGeom>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47800"/>
            <a:ext cx="5486400" cy="4678680"/>
          </a:xfrm>
          <a:prstGeom prst="roundRect">
            <a:avLst>
              <a:gd name="adj" fmla="val 15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5120640" cy="457200"/>
          </a:xfrm>
          <a:prstGeom prst="rect">
            <a:avLst/>
          </a:prstGeom>
          <a:noFill/>
        </p:spPr>
        <p:txBody>
          <a:bodyPr wrap="square">
            <a:spAutoFit/>
          </a:bodyPr>
          <a:lstStyle/>
          <a:p>
            <a:r>
              <a:rPr b="1" sz="1400">
                <a:solidFill>
                  <a:srgbClr val="E74C3C"/>
                </a:solidFill>
              </a:rPr>
              <a:t> ❌ NON-RTC </a:t>
            </a:r>
            <a:r>
              <a:rPr b="1" sz="1800">
                <a:solidFill>
                  <a:srgbClr val="001F3F"/>
                </a:solidFill>
              </a:rPr>
              <a:t>   Prompt Lười Biếng</a:t>
            </a:r>
          </a:p>
        </p:txBody>
      </p:sp>
      <p:sp>
        <p:nvSpPr>
          <p:cNvPr id="8" name="Rounded Rectangle 7"/>
          <p:cNvSpPr/>
          <p:nvPr/>
        </p:nvSpPr>
        <p:spPr>
          <a:xfrm>
            <a:off x="640080" y="2194560"/>
            <a:ext cx="5120640" cy="14630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86000"/>
            <a:ext cx="4937760" cy="1280160"/>
          </a:xfrm>
          <a:prstGeom prst="rect">
            <a:avLst/>
          </a:prstGeom>
          <a:noFill/>
        </p:spPr>
        <p:txBody>
          <a:bodyPr wrap="square">
            <a:normAutofit/>
          </a:bodyPr>
          <a:lstStyle/>
          <a:p>
            <a:pPr algn="just"/>
            <a:r>
              <a:rPr sz="1300" i="1">
                <a:solidFill>
                  <a:srgbClr val="333333"/>
                </a:solidFill>
              </a:rPr>
              <a:t>
                    "Tôi đang cần giải bài toán này gấp lắm, bạn hãy giúp tôi giải bài x^2 - 5x + 6 &gt; 0 thật là chi tiết và đầy đủ nhất có thể nhé, vì đây là bài tập quan trọng tôi phải nộp cho thầy giáo ngày mai, bạn cố gắng làm tốt nhé cảm ơn bạn rất nhiều."
                </a:t>
            </a:r>
          </a:p>
        </p:txBody>
      </p:sp>
      <p:sp>
        <p:nvSpPr>
          <p:cNvPr id="10" name="Rounded Rectangle 9"/>
          <p:cNvSpPr/>
          <p:nvPr/>
        </p:nvSpPr>
        <p:spPr>
          <a:xfrm>
            <a:off x="640080" y="3840480"/>
            <a:ext cx="5120640" cy="914400"/>
          </a:xfrm>
          <a:prstGeom prst="roundRect">
            <a:avLst/>
          </a:prstGeom>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886200"/>
            <a:ext cx="4937760" cy="822960"/>
          </a:xfrm>
          <a:prstGeom prst="rect">
            <a:avLst/>
          </a:prstGeom>
          <a:noFill/>
        </p:spPr>
        <p:txBody>
          <a:bodyPr wrap="square">
            <a:normAutofit/>
          </a:bodyPr>
          <a:lstStyle/>
          <a:p>
            <a:pPr algn="just"/>
            <a:r>
              <a:rPr sz="1100">
                <a:solidFill>
                  <a:srgbClr val="333333"/>
                </a:solidFill>
              </a:rPr>
              <a:t>
</a:t>
            </a:r>
            <a:r>
              <a:rPr b="1" sz="1100">
                <a:solidFill>
                  <a:srgbClr val="333333"/>
                </a:solidFill>
              </a:rPr>
              <a:t>Hậu quả:</a:t>
            </a:r>
            <a:r>
              <a:rPr sz="1100">
                <a:solidFill>
                  <a:srgbClr val="333333"/>
                </a:solidFill>
              </a:rPr>
              <a:t> AI sẽ giải hộ từ A-Z. Bạn chỉ việc chép mà không hiểu tại sao. Kết quả: Mất gốc kiến thức.
                </a:t>
            </a:r>
          </a:p>
        </p:txBody>
      </p:sp>
      <p:sp>
        <p:nvSpPr>
          <p:cNvPr id="12" name="TextBox 11"/>
          <p:cNvSpPr txBox="1"/>
          <p:nvPr/>
        </p:nvSpPr>
        <p:spPr>
          <a:xfrm>
            <a:off x="640080" y="4937760"/>
            <a:ext cx="1280160" cy="274320"/>
          </a:xfrm>
          <a:prstGeom prst="rect">
            <a:avLst/>
          </a:prstGeom>
          <a:noFill/>
        </p:spPr>
        <p:txBody>
          <a:bodyPr wrap="square" anchor="ctr">
            <a:normAutofit/>
          </a:bodyPr>
          <a:lstStyle/>
          <a:p>
            <a:pPr algn="l"/>
            <a:r>
              <a:rPr sz="1000" i="0" b="1">
                <a:solidFill>
                  <a:srgbClr val="001F3F"/>
                </a:solidFill>
              </a:rPr>
              <a:t>Độ dài: ~45 chữ</a:t>
            </a:r>
          </a:p>
        </p:txBody>
      </p:sp>
      <p:sp>
        <p:nvSpPr>
          <p:cNvPr id="13" name="Rectangle 12"/>
          <p:cNvSpPr/>
          <p:nvPr/>
        </p:nvSpPr>
        <p:spPr>
          <a:xfrm>
            <a:off x="2011680" y="5010912"/>
            <a:ext cx="274320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0" y="5010912"/>
            <a:ext cx="2743200" cy="109728"/>
          </a:xfrm>
          <a:prstGeom prst="rect">
            <a:avLst/>
          </a:prstGeom>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4937760"/>
            <a:ext cx="1097280" cy="274320"/>
          </a:xfrm>
          <a:prstGeom prst="rect">
            <a:avLst/>
          </a:prstGeom>
          <a:noFill/>
        </p:spPr>
        <p:txBody>
          <a:bodyPr wrap="square" anchor="ctr">
            <a:normAutofit/>
          </a:bodyPr>
          <a:lstStyle/>
          <a:p>
            <a:pPr algn="l"/>
            <a:r>
              <a:rPr sz="1000" i="0" b="1">
                <a:solidFill>
                  <a:srgbClr val="001F3F"/>
                </a:solidFill>
              </a:rPr>
              <a:t>Hiệu quả: 10%</a:t>
            </a:r>
          </a:p>
        </p:txBody>
      </p:sp>
      <p:sp>
        <p:nvSpPr>
          <p:cNvPr id="16" name="Rounded Rectangle 15"/>
          <p:cNvSpPr/>
          <p:nvPr/>
        </p:nvSpPr>
        <p:spPr>
          <a:xfrm>
            <a:off x="6217920" y="1371600"/>
            <a:ext cx="5486400" cy="914400"/>
          </a:xfrm>
          <a:prstGeom prst="roundRect">
            <a:avLst>
              <a:gd name="adj" fmla="val 15000"/>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447800"/>
            <a:ext cx="5486400" cy="4678680"/>
          </a:xfrm>
          <a:prstGeom prst="roundRect">
            <a:avLst>
              <a:gd name="adj" fmla="val 15000"/>
            </a:avLst>
          </a:prstGeom>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554480"/>
            <a:ext cx="5120640" cy="457200"/>
          </a:xfrm>
          <a:prstGeom prst="rect">
            <a:avLst/>
          </a:prstGeom>
          <a:noFill/>
        </p:spPr>
        <p:txBody>
          <a:bodyPr wrap="square">
            <a:spAutoFit/>
          </a:bodyPr>
          <a:lstStyle/>
          <a:p>
            <a:r>
              <a:rPr b="1" sz="1400">
                <a:solidFill>
                  <a:srgbClr val="2ECC71"/>
                </a:solidFill>
              </a:rPr>
              <a:t> ✅ RTC CHUẨN </a:t>
            </a:r>
            <a:r>
              <a:rPr b="1" sz="1800">
                <a:solidFill>
                  <a:srgbClr val="001F3F"/>
                </a:solidFill>
              </a:rPr>
              <a:t>   Prompt Gia Sư</a:t>
            </a:r>
          </a:p>
        </p:txBody>
      </p:sp>
      <p:sp>
        <p:nvSpPr>
          <p:cNvPr id="19" name="Rounded Rectangle 18"/>
          <p:cNvSpPr/>
          <p:nvPr/>
        </p:nvSpPr>
        <p:spPr>
          <a:xfrm>
            <a:off x="6400800" y="2194560"/>
            <a:ext cx="5120640" cy="14630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286000"/>
            <a:ext cx="4937760" cy="1280160"/>
          </a:xfrm>
          <a:prstGeom prst="rect">
            <a:avLst/>
          </a:prstGeom>
          <a:noFill/>
        </p:spPr>
        <p:txBody>
          <a:bodyPr wrap="square">
            <a:normAutofit/>
          </a:bodyPr>
          <a:lstStyle/>
          <a:p>
            <a:pPr algn="just"/>
            <a:r>
              <a:rPr sz="1300" i="1">
                <a:solidFill>
                  <a:srgbClr val="333333"/>
                </a:solidFill>
              </a:rPr>
              <a:t>
                    "</a:t>
            </a:r>
            <a:r>
              <a:rPr b="1" sz="1300" i="1">
                <a:solidFill>
                  <a:srgbClr val="3498DB"/>
                </a:solidFill>
              </a:rPr>
              <a:t>Đóng vai giáo viên Toán.</a:t>
            </a:r>
            <a:r>
              <a:rPr sz="1300" i="1">
                <a:solidFill>
                  <a:srgbClr val="333333"/>
                </a:solidFill>
              </a:rPr>
              <a:t> </a:t>
            </a:r>
            <a:r>
              <a:rPr b="1" sz="1300" i="1">
                <a:solidFill>
                  <a:srgbClr val="2ECC71"/>
                </a:solidFill>
              </a:rPr>
              <a:t>Hãy hướng dẫn mình các bước xét dấu tam thức x^2 - 5x + 6.</a:t>
            </a:r>
            <a:r>
              <a:rPr sz="1300" i="1">
                <a:solidFill>
                  <a:srgbClr val="333333"/>
                </a:solidFill>
              </a:rPr>
              <a:t> </a:t>
            </a:r>
            <a:r>
              <a:rPr b="1" sz="1300" i="1">
                <a:solidFill>
                  <a:srgbClr val="E67E22"/>
                </a:solidFill>
              </a:rPr>
              <a:t>Nhấn mạnh các lỗi sai phổ biến để mình tự rút kinh nghiệm.</a:t>
            </a:r>
            <a:r>
              <a:rPr sz="1300" i="1">
                <a:solidFill>
                  <a:srgbClr val="333333"/>
                </a:solidFill>
              </a:rPr>
              <a:t>"
                </a:t>
            </a:r>
          </a:p>
        </p:txBody>
      </p:sp>
      <p:sp>
        <p:nvSpPr>
          <p:cNvPr id="21" name="Rounded Rectangle 20"/>
          <p:cNvSpPr/>
          <p:nvPr/>
        </p:nvSpPr>
        <p:spPr>
          <a:xfrm>
            <a:off x="6400800" y="3840480"/>
            <a:ext cx="5120640" cy="914400"/>
          </a:xfrm>
          <a:prstGeom prst="roundRect">
            <a:avLst/>
          </a:prstGeom>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886200"/>
            <a:ext cx="4937760" cy="822960"/>
          </a:xfrm>
          <a:prstGeom prst="rect">
            <a:avLst/>
          </a:prstGeom>
          <a:noFill/>
        </p:spPr>
        <p:txBody>
          <a:bodyPr wrap="square">
            <a:normAutofit/>
          </a:bodyPr>
          <a:lstStyle/>
          <a:p>
            <a:pPr algn="just"/>
            <a:r>
              <a:rPr sz="1100">
                <a:solidFill>
                  <a:srgbClr val="333333"/>
                </a:solidFill>
              </a:rPr>
              <a:t>
</a:t>
            </a:r>
            <a:r>
              <a:rPr b="1" sz="1100">
                <a:solidFill>
                  <a:srgbClr val="333333"/>
                </a:solidFill>
              </a:rPr>
              <a:t>Quyền năng:</a:t>
            </a:r>
            <a:r>
              <a:rPr sz="1100">
                <a:solidFill>
                  <a:srgbClr val="333333"/>
                </a:solidFill>
              </a:rPr>
              <a:t> AI đóng vai người dạy, chỉ ra "bẫy" và gợi ý cách làm. Bạn tự giải được bài và nhớ lâu. Kết quả: Làm chủ kiến thức.
                </a:t>
            </a:r>
          </a:p>
        </p:txBody>
      </p:sp>
      <p:sp>
        <p:nvSpPr>
          <p:cNvPr id="23" name="TextBox 22"/>
          <p:cNvSpPr txBox="1"/>
          <p:nvPr/>
        </p:nvSpPr>
        <p:spPr>
          <a:xfrm>
            <a:off x="6400800" y="4937760"/>
            <a:ext cx="1280160" cy="274320"/>
          </a:xfrm>
          <a:prstGeom prst="rect">
            <a:avLst/>
          </a:prstGeom>
          <a:noFill/>
        </p:spPr>
        <p:txBody>
          <a:bodyPr wrap="square" anchor="ctr">
            <a:normAutofit/>
          </a:bodyPr>
          <a:lstStyle/>
          <a:p>
            <a:pPr algn="l"/>
            <a:r>
              <a:rPr sz="1000" i="0" b="1">
                <a:solidFill>
                  <a:srgbClr val="001F3F"/>
                </a:solidFill>
              </a:rPr>
              <a:t>Độ dài: ~40 chữ</a:t>
            </a:r>
          </a:p>
        </p:txBody>
      </p:sp>
      <p:sp>
        <p:nvSpPr>
          <p:cNvPr id="24" name="Rectangle 23"/>
          <p:cNvSpPr/>
          <p:nvPr/>
        </p:nvSpPr>
        <p:spPr>
          <a:xfrm>
            <a:off x="7772400" y="5010912"/>
            <a:ext cx="2743200" cy="109728"/>
          </a:xfrm>
          <a:prstGeom prst="rect">
            <a:avLst/>
          </a:prstGeom>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0" y="5010912"/>
            <a:ext cx="2468880" cy="109728"/>
          </a:xfrm>
          <a:prstGeom prst="rect">
            <a:avLst/>
          </a:prstGeom>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607040" y="4937760"/>
            <a:ext cx="1097280" cy="274320"/>
          </a:xfrm>
          <a:prstGeom prst="rect">
            <a:avLst/>
          </a:prstGeom>
          <a:noFill/>
        </p:spPr>
        <p:txBody>
          <a:bodyPr wrap="square" anchor="ctr">
            <a:normAutofit/>
          </a:bodyPr>
          <a:lstStyle/>
          <a:p>
            <a:pPr algn="l"/>
            <a:r>
              <a:rPr sz="1000" i="0" b="1">
                <a:solidFill>
                  <a:srgbClr val="001F3F"/>
                </a:solidFill>
              </a:rPr>
              <a:t>Hiệu quả: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