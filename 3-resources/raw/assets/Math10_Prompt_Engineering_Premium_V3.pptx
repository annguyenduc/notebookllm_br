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65760"/>
            <a:ext cx="10360152" cy="731520"/>
          </a:xfrm>
          <a:prstGeom prst="rect">
            <a:avLst/>
          </a:prstGeom>
          <a:noFill/>
        </p:spPr>
        <p:txBody>
          <a:bodyPr wrap="none">
            <a:spAutoFit/>
          </a:bodyPr>
          <a:lstStyle/>
          <a:p>
            <a:pPr algn="ctr"/>
            <a:r>
              <a:rPr sz="4400" b="1">
                <a:solidFill>
                  <a:srgbClr val="FFFFFF"/>
                </a:solidFill>
                <a:latin typeface="Montserrat"/>
              </a:rPr>
              <a:t>GIẢI PHẪU PROMPT RTC</a:t>
            </a:r>
          </a:p>
          <a:p>
            <a:pPr algn="ctr"/>
            <a:r>
              <a:rPr sz="1800">
                <a:solidFill>
                  <a:srgbClr val="FFFFFF"/>
                </a:solidFill>
                <a:latin typeface="Arial"/>
              </a:rPr>
              <a:t>Cấu trúc 'Khối lắp ghép' cho hiệu quả tối đa</a:t>
            </a:r>
          </a:p>
        </p:txBody>
      </p:sp>
      <p:sp>
        <p:nvSpPr>
          <p:cNvPr id="4" name="Rounded Rectangle 3"/>
          <p:cNvSpPr/>
          <p:nvPr/>
        </p:nvSpPr>
        <p:spPr>
          <a:xfrm>
            <a:off x="731520" y="1371600"/>
            <a:ext cx="10725912" cy="5120640"/>
          </a:xfrm>
          <a:prstGeom prst="roundRect">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1645919"/>
            <a:ext cx="274320" cy="182880"/>
          </a:xfrm>
          <a:prstGeom prst="ellipse">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77440" y="1645919"/>
            <a:ext cx="274320" cy="182880"/>
          </a:xfrm>
          <a:prstGeom prst="ellipse">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926080" y="1645919"/>
            <a:ext cx="274320" cy="182880"/>
          </a:xfrm>
          <a:prstGeom prst="ellipse">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7280" y="1737360"/>
            <a:ext cx="9966960" cy="914400"/>
          </a:xfrm>
          <a:prstGeom prst="roundRect">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80160" y="1874519"/>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3498DB"/>
                </a:solidFill>
              </a:rPr>
              <a:t>R</a:t>
            </a:r>
          </a:p>
        </p:txBody>
      </p:sp>
      <p:sp>
        <p:nvSpPr>
          <p:cNvPr id="10" name="TextBox 9"/>
          <p:cNvSpPr txBox="1"/>
          <p:nvPr/>
        </p:nvSpPr>
        <p:spPr>
          <a:xfrm>
            <a:off x="2194560" y="1828800"/>
            <a:ext cx="8686800" cy="731520"/>
          </a:xfrm>
          <a:prstGeom prst="rect">
            <a:avLst/>
          </a:prstGeom>
          <a:noFill/>
        </p:spPr>
        <p:txBody>
          <a:bodyPr wrap="none">
            <a:normAutofit/>
          </a:bodyPr>
          <a:lstStyle/>
          <a:p>
            <a:r>
              <a:rPr b="1" sz="1800">
                <a:solidFill>
                  <a:srgbClr val="FFFFFF"/>
                </a:solidFill>
              </a:rPr>
              <a:t>ROLE (Vai trò): Bạn là ai?</a:t>
            </a:r>
          </a:p>
          <a:p>
            <a:r>
              <a:rPr sz="1400">
                <a:solidFill>
                  <a:srgbClr val="FFFFFF"/>
                </a:solidFill>
              </a:rPr>
              <a:t>Đóng vai giáo viên Toán.</a:t>
            </a:r>
          </a:p>
        </p:txBody>
      </p:sp>
      <p:sp>
        <p:nvSpPr>
          <p:cNvPr id="11" name="Oval 10"/>
          <p:cNvSpPr/>
          <p:nvPr/>
        </p:nvSpPr>
        <p:spPr>
          <a:xfrm>
            <a:off x="1828800" y="2834640"/>
            <a:ext cx="274320" cy="182880"/>
          </a:xfrm>
          <a:prstGeom prst="ellipse">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77440" y="2834640"/>
            <a:ext cx="274320" cy="182880"/>
          </a:xfrm>
          <a:prstGeom prst="ellipse">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26080" y="2834640"/>
            <a:ext cx="274320" cy="182880"/>
          </a:xfrm>
          <a:prstGeom prst="ellipse">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7280" y="2926080"/>
            <a:ext cx="9966960" cy="914400"/>
          </a:xfrm>
          <a:prstGeom prst="round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80160" y="3063240"/>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2ECC71"/>
                </a:solidFill>
              </a:rPr>
              <a:t>T</a:t>
            </a:r>
          </a:p>
        </p:txBody>
      </p:sp>
      <p:sp>
        <p:nvSpPr>
          <p:cNvPr id="16" name="TextBox 15"/>
          <p:cNvSpPr txBox="1"/>
          <p:nvPr/>
        </p:nvSpPr>
        <p:spPr>
          <a:xfrm>
            <a:off x="2194560" y="3017520"/>
            <a:ext cx="8686800" cy="731520"/>
          </a:xfrm>
          <a:prstGeom prst="rect">
            <a:avLst/>
          </a:prstGeom>
          <a:noFill/>
        </p:spPr>
        <p:txBody>
          <a:bodyPr wrap="none">
            <a:normAutofit/>
          </a:bodyPr>
          <a:lstStyle/>
          <a:p>
            <a:r>
              <a:rPr b="1" sz="1800">
                <a:solidFill>
                  <a:srgbClr val="FFFFFF"/>
                </a:solidFill>
              </a:rPr>
              <a:t>TASK (Nhiệm vụ): Bạn phải làm gì?</a:t>
            </a:r>
          </a:p>
          <a:p>
            <a:r>
              <a:rPr sz="1400">
                <a:solidFill>
                  <a:srgbClr val="FFFFFF"/>
                </a:solidFill>
              </a:rPr>
              <a:t>Hãy giải thích cho mình các bước xét dấu tam thức bậc hai x^2 - 5x + 6.</a:t>
            </a:r>
          </a:p>
        </p:txBody>
      </p:sp>
      <p:sp>
        <p:nvSpPr>
          <p:cNvPr id="17" name="Oval 16"/>
          <p:cNvSpPr/>
          <p:nvPr/>
        </p:nvSpPr>
        <p:spPr>
          <a:xfrm>
            <a:off x="1828800" y="4023360"/>
            <a:ext cx="274320" cy="182880"/>
          </a:xfrm>
          <a:prstGeom prst="ellipse">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77440" y="4023360"/>
            <a:ext cx="274320" cy="182880"/>
          </a:xfrm>
          <a:prstGeom prst="ellipse">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926080" y="4023360"/>
            <a:ext cx="274320" cy="182880"/>
          </a:xfrm>
          <a:prstGeom prst="ellipse">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 y="4114800"/>
            <a:ext cx="9966960" cy="914400"/>
          </a:xfrm>
          <a:prstGeom prst="roundRect">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80160" y="4251960"/>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E67E22"/>
                </a:solidFill>
              </a:rPr>
              <a:t>C</a:t>
            </a:r>
          </a:p>
        </p:txBody>
      </p:sp>
      <p:sp>
        <p:nvSpPr>
          <p:cNvPr id="22" name="TextBox 21"/>
          <p:cNvSpPr txBox="1"/>
          <p:nvPr/>
        </p:nvSpPr>
        <p:spPr>
          <a:xfrm>
            <a:off x="2194560" y="4206240"/>
            <a:ext cx="8686800" cy="731520"/>
          </a:xfrm>
          <a:prstGeom prst="rect">
            <a:avLst/>
          </a:prstGeom>
          <a:noFill/>
        </p:spPr>
        <p:txBody>
          <a:bodyPr wrap="none">
            <a:normAutofit/>
          </a:bodyPr>
          <a:lstStyle/>
          <a:p>
            <a:r>
              <a:rPr b="1" sz="1800">
                <a:solidFill>
                  <a:srgbClr val="FFFFFF"/>
                </a:solidFill>
              </a:rPr>
              <a:t>CONTEXT (Ngữ cảnh): Làm như thế nào?</a:t>
            </a:r>
          </a:p>
          <a:p>
            <a:r>
              <a:rPr sz="1400">
                <a:solidFill>
                  <a:srgbClr val="FFFFFF"/>
                </a:solidFill>
              </a:rPr>
              <a:t>Hãy liệt kê các lỗi sai phổ biến học sinh hay mắc ở phần này khi giải bất phương trình.</a:t>
            </a:r>
          </a:p>
        </p:txBody>
      </p:sp>
      <p:sp>
        <p:nvSpPr>
          <p:cNvPr id="23" name="TextBox 22"/>
          <p:cNvSpPr txBox="1"/>
          <p:nvPr/>
        </p:nvSpPr>
        <p:spPr>
          <a:xfrm>
            <a:off x="914400" y="6492240"/>
            <a:ext cx="10360152" cy="274320"/>
          </a:xfrm>
          <a:prstGeom prst="rect">
            <a:avLst/>
          </a:prstGeom>
          <a:noFill/>
        </p:spPr>
        <p:txBody>
          <a:bodyPr wrap="none">
            <a:spAutoFit/>
          </a:bodyPr>
          <a:lstStyle/>
          <a:p>
            <a:pPr algn="r"/>
            <a:r>
              <a:rPr sz="1000">
                <a:solidFill>
                  <a:srgbClr val="CCCCCC"/>
                </a:solidFill>
              </a:rPr>
              <a:t>© 2026 NoteBookLLM Pedagogical Hub | Kỹ thuật Prompt Engineering lớp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65760"/>
            <a:ext cx="10360152" cy="731520"/>
          </a:xfrm>
          <a:prstGeom prst="rect">
            <a:avLst/>
          </a:prstGeom>
          <a:noFill/>
        </p:spPr>
        <p:txBody>
          <a:bodyPr wrap="none">
            <a:spAutoFit/>
          </a:bodyPr>
          <a:lstStyle/>
          <a:p>
            <a:pPr algn="ctr"/>
            <a:r>
              <a:rPr sz="4400" b="1">
                <a:solidFill>
                  <a:srgbClr val="FFFFFF"/>
                </a:solidFill>
                <a:latin typeface="Montserrat"/>
              </a:rPr>
              <a:t>CUỘC CHIẾN ĐỘ DÀI VS CẤU TRÚC</a:t>
            </a:r>
          </a:p>
        </p:txBody>
      </p:sp>
      <p:sp>
        <p:nvSpPr>
          <p:cNvPr id="4" name="Rounded Rectangle 3"/>
          <p:cNvSpPr/>
          <p:nvPr/>
        </p:nvSpPr>
        <p:spPr>
          <a:xfrm>
            <a:off x="457200" y="1371600"/>
            <a:ext cx="5486400" cy="4572000"/>
          </a:xfrm>
          <a:prstGeom prst="roundRect">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5486400" cy="109728"/>
          </a:xfrm>
          <a:prstGeom prst="rect">
            <a:avLst/>
          </a:prstGeom>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120640" cy="457200"/>
          </a:xfrm>
          <a:prstGeom prst="rect">
            <a:avLst/>
          </a:prstGeom>
          <a:noFill/>
        </p:spPr>
        <p:txBody>
          <a:bodyPr wrap="none">
            <a:spAutoFit/>
          </a:bodyPr>
          <a:lstStyle/>
          <a:p>
            <a:pPr algn="l"/>
            <a:r>
              <a:rPr b="1" sz="1400">
                <a:solidFill>
                  <a:srgbClr val="E74C3C"/>
                </a:solidFill>
              </a:rPr>
              <a:t> ❌ NON-RTC </a:t>
            </a:r>
            <a:r>
              <a:rPr b="1" sz="1800">
                <a:solidFill>
                  <a:srgbClr val="001F3F"/>
                </a:solidFill>
                <a:latin typeface="Montserrat"/>
              </a:rPr>
              <a:t>  Prompt Lười Biếng</a:t>
            </a:r>
          </a:p>
        </p:txBody>
      </p:sp>
      <p:sp>
        <p:nvSpPr>
          <p:cNvPr id="7" name="Rectangle 6"/>
          <p:cNvSpPr/>
          <p:nvPr/>
        </p:nvSpPr>
        <p:spPr>
          <a:xfrm>
            <a:off x="640080" y="2011680"/>
            <a:ext cx="5120640" cy="9144"/>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194560"/>
            <a:ext cx="5120640" cy="164592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194560"/>
            <a:ext cx="54864" cy="1645920"/>
          </a:xfrm>
          <a:prstGeom prst="rect">
            <a:avLst/>
          </a:prstGeom>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86000"/>
            <a:ext cx="4754880" cy="1463040"/>
          </a:xfrm>
          <a:prstGeom prst="rect">
            <a:avLst/>
          </a:prstGeom>
          <a:noFill/>
        </p:spPr>
        <p:txBody>
          <a:bodyPr wrap="square" anchor="ctr">
            <a:normAutofit/>
          </a:bodyPr>
          <a:lstStyle/>
          <a:p>
            <a:pPr algn="just"/>
            <a:r>
              <a:rPr i="1" sz="1400">
                <a:solidFill>
                  <a:srgbClr val="333333"/>
                </a:solidFill>
              </a:rPr>
              <a:t>""Tôi đang cần giải bài toán này gấp lắm, bạn hãy giúp tôi giải bài x^2 - 5x + 6 &gt; 0 thật là chi tiết và đầy đủ nhất có thể nhé, vì đây là bài tập quan trọng tôi phải nộp cho thầy giáo ngày mai, bạn cố gắng làm tốt nhé cảm ơn bạn rất nhiều.""</a:t>
            </a:r>
          </a:p>
        </p:txBody>
      </p:sp>
      <p:sp>
        <p:nvSpPr>
          <p:cNvPr id="11" name="Rounded Rectangle 10"/>
          <p:cNvSpPr/>
          <p:nvPr/>
        </p:nvSpPr>
        <p:spPr>
          <a:xfrm>
            <a:off x="640080" y="3931920"/>
            <a:ext cx="5120640" cy="914400"/>
          </a:xfrm>
          <a:prstGeom prst="roundRect">
            <a:avLst/>
          </a:prstGeom>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77639"/>
            <a:ext cx="4937760" cy="822960"/>
          </a:xfrm>
          <a:prstGeom prst="rect">
            <a:avLst/>
          </a:prstGeom>
          <a:noFill/>
        </p:spPr>
        <p:txBody>
          <a:bodyPr wrap="square">
            <a:normAutofit/>
          </a:bodyPr>
          <a:lstStyle/>
          <a:p>
            <a:pPr algn="just"/>
            <a:r>
              <a:rPr sz="1200">
                <a:solidFill>
                  <a:srgbClr val="333333"/>
                </a:solidFill>
              </a:rPr>
              <a:t>Hậu quả: AI sẽ giải hộ từ A-Z. Bạn chỉ việc chép mà không hiểu tại sao. Kết quả: Mất gốc kiến thức.</a:t>
            </a:r>
          </a:p>
        </p:txBody>
      </p:sp>
      <p:sp>
        <p:nvSpPr>
          <p:cNvPr id="13" name="TextBox 12"/>
          <p:cNvSpPr txBox="1"/>
          <p:nvPr/>
        </p:nvSpPr>
        <p:spPr>
          <a:xfrm>
            <a:off x="640080" y="5029200"/>
            <a:ext cx="1645920" cy="274320"/>
          </a:xfrm>
          <a:prstGeom prst="rect">
            <a:avLst/>
          </a:prstGeom>
          <a:noFill/>
        </p:spPr>
        <p:txBody>
          <a:bodyPr wrap="none">
            <a:spAutoFit/>
          </a:bodyPr>
          <a:lstStyle/>
          <a:p>
            <a:r>
              <a:rPr sz="1100" b="1">
                <a:solidFill>
                  <a:srgbClr val="001F3F"/>
                </a:solidFill>
              </a:rPr>
              <a:t>Độ dài: ~45 chữ</a:t>
            </a:r>
          </a:p>
        </p:txBody>
      </p:sp>
      <p:sp>
        <p:nvSpPr>
          <p:cNvPr id="14" name="Rectangle 13"/>
          <p:cNvSpPr/>
          <p:nvPr/>
        </p:nvSpPr>
        <p:spPr>
          <a:xfrm>
            <a:off x="2286000" y="5102352"/>
            <a:ext cx="329184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0" y="5102352"/>
            <a:ext cx="3291840" cy="109728"/>
          </a:xfrm>
          <a:prstGeom prst="rect">
            <a:avLst/>
          </a:prstGeom>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86400"/>
            <a:ext cx="1645920" cy="274320"/>
          </a:xfrm>
          <a:prstGeom prst="rect">
            <a:avLst/>
          </a:prstGeom>
          <a:noFill/>
        </p:spPr>
        <p:txBody>
          <a:bodyPr wrap="none">
            <a:spAutoFit/>
          </a:bodyPr>
          <a:lstStyle/>
          <a:p>
            <a:r>
              <a:rPr sz="1100" b="1">
                <a:solidFill>
                  <a:srgbClr val="001F3F"/>
                </a:solidFill>
              </a:rPr>
              <a:t>Hiệu quả: 10%</a:t>
            </a:r>
          </a:p>
        </p:txBody>
      </p:sp>
      <p:sp>
        <p:nvSpPr>
          <p:cNvPr id="17" name="Rectangle 16"/>
          <p:cNvSpPr/>
          <p:nvPr/>
        </p:nvSpPr>
        <p:spPr>
          <a:xfrm>
            <a:off x="2286000" y="5559552"/>
            <a:ext cx="329184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5559552"/>
            <a:ext cx="329184" cy="109728"/>
          </a:xfrm>
          <a:prstGeom prst="rect">
            <a:avLst/>
          </a:prstGeom>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1371600"/>
            <a:ext cx="5486400" cy="4572000"/>
          </a:xfrm>
          <a:prstGeom prst="roundRect">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371600"/>
            <a:ext cx="5486400" cy="109728"/>
          </a:xfrm>
          <a:prstGeom prst="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554480"/>
            <a:ext cx="5120640" cy="457200"/>
          </a:xfrm>
          <a:prstGeom prst="rect">
            <a:avLst/>
          </a:prstGeom>
          <a:noFill/>
        </p:spPr>
        <p:txBody>
          <a:bodyPr wrap="none">
            <a:spAutoFit/>
          </a:bodyPr>
          <a:lstStyle/>
          <a:p>
            <a:pPr algn="l"/>
            <a:r>
              <a:rPr b="1" sz="1400">
                <a:solidFill>
                  <a:srgbClr val="2ECC71"/>
                </a:solidFill>
              </a:rPr>
              <a:t> ✅ RTC CHUẨN </a:t>
            </a:r>
            <a:r>
              <a:rPr b="1" sz="1800">
                <a:solidFill>
                  <a:srgbClr val="001F3F"/>
                </a:solidFill>
                <a:latin typeface="Montserrat"/>
              </a:rPr>
              <a:t>  Prompt Gia Sư</a:t>
            </a:r>
          </a:p>
        </p:txBody>
      </p:sp>
      <p:sp>
        <p:nvSpPr>
          <p:cNvPr id="22" name="Rectangle 21"/>
          <p:cNvSpPr/>
          <p:nvPr/>
        </p:nvSpPr>
        <p:spPr>
          <a:xfrm>
            <a:off x="6400800" y="2011680"/>
            <a:ext cx="5120640" cy="9144"/>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2194560"/>
            <a:ext cx="5120640" cy="164592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194560"/>
            <a:ext cx="54864" cy="1645920"/>
          </a:xfrm>
          <a:prstGeom prst="rect">
            <a:avLst/>
          </a:prstGeom>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2286000"/>
            <a:ext cx="4754880" cy="1463040"/>
          </a:xfrm>
          <a:prstGeom prst="rect">
            <a:avLst/>
          </a:prstGeom>
          <a:noFill/>
        </p:spPr>
        <p:txBody>
          <a:bodyPr wrap="square" anchor="ctr">
            <a:normAutofit/>
          </a:bodyPr>
          <a:lstStyle/>
          <a:p>
            <a:pPr algn="just"/>
            <a:r>
              <a:rPr i="1" sz="1400">
                <a:solidFill>
                  <a:srgbClr val="333333"/>
                </a:solidFill>
              </a:rPr>
              <a:t>"Đóng vai giáo viên Toán. Hãy hướng dẫn mình các bước xét dấu tam thức x^2 - 5x + 6. Nhấn mạnh các lỗi sai phổ biến để mình tự rút kinh nghiệm."</a:t>
            </a:r>
          </a:p>
        </p:txBody>
      </p:sp>
      <p:sp>
        <p:nvSpPr>
          <p:cNvPr id="26" name="Rounded Rectangle 25"/>
          <p:cNvSpPr/>
          <p:nvPr/>
        </p:nvSpPr>
        <p:spPr>
          <a:xfrm>
            <a:off x="6400800" y="3931920"/>
            <a:ext cx="5120640" cy="914400"/>
          </a:xfrm>
          <a:prstGeom prst="roundRect">
            <a:avLst/>
          </a:prstGeom>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977639"/>
            <a:ext cx="4937760" cy="822960"/>
          </a:xfrm>
          <a:prstGeom prst="rect">
            <a:avLst/>
          </a:prstGeom>
          <a:noFill/>
        </p:spPr>
        <p:txBody>
          <a:bodyPr wrap="square">
            <a:normAutofit/>
          </a:bodyPr>
          <a:lstStyle/>
          <a:p>
            <a:pPr algn="just"/>
            <a:r>
              <a:rPr sz="1200">
                <a:solidFill>
                  <a:srgbClr val="333333"/>
                </a:solidFill>
              </a:rPr>
              <a:t>Quyền năng: AI đóng vai người dạy, chỉ ra "bẫy" và gợi ý cách làm. Bạn tự giải được bài và nhớ lâu. Kết quả: Làm chủ kiến thức.</a:t>
            </a:r>
          </a:p>
        </p:txBody>
      </p:sp>
      <p:sp>
        <p:nvSpPr>
          <p:cNvPr id="28" name="TextBox 27"/>
          <p:cNvSpPr txBox="1"/>
          <p:nvPr/>
        </p:nvSpPr>
        <p:spPr>
          <a:xfrm>
            <a:off x="6400800" y="5029200"/>
            <a:ext cx="1645920" cy="274320"/>
          </a:xfrm>
          <a:prstGeom prst="rect">
            <a:avLst/>
          </a:prstGeom>
          <a:noFill/>
        </p:spPr>
        <p:txBody>
          <a:bodyPr wrap="none">
            <a:spAutoFit/>
          </a:bodyPr>
          <a:lstStyle/>
          <a:p>
            <a:r>
              <a:rPr sz="1100" b="1">
                <a:solidFill>
                  <a:srgbClr val="001F3F"/>
                </a:solidFill>
              </a:rPr>
              <a:t>Độ dài: ~40 chữ</a:t>
            </a:r>
          </a:p>
        </p:txBody>
      </p:sp>
      <p:sp>
        <p:nvSpPr>
          <p:cNvPr id="29" name="Rectangle 28"/>
          <p:cNvSpPr/>
          <p:nvPr/>
        </p:nvSpPr>
        <p:spPr>
          <a:xfrm>
            <a:off x="8046720" y="5102352"/>
            <a:ext cx="329184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6720" y="5102352"/>
            <a:ext cx="2962656" cy="109728"/>
          </a:xfrm>
          <a:prstGeom prst="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5486400"/>
            <a:ext cx="1645920" cy="274320"/>
          </a:xfrm>
          <a:prstGeom prst="rect">
            <a:avLst/>
          </a:prstGeom>
          <a:noFill/>
        </p:spPr>
        <p:txBody>
          <a:bodyPr wrap="none">
            <a:spAutoFit/>
          </a:bodyPr>
          <a:lstStyle/>
          <a:p>
            <a:r>
              <a:rPr sz="1100" b="1">
                <a:solidFill>
                  <a:srgbClr val="001F3F"/>
                </a:solidFill>
              </a:rPr>
              <a:t>Hiệu quả: 100%</a:t>
            </a:r>
          </a:p>
        </p:txBody>
      </p:sp>
      <p:sp>
        <p:nvSpPr>
          <p:cNvPr id="32" name="Rectangle 31"/>
          <p:cNvSpPr/>
          <p:nvPr/>
        </p:nvSpPr>
        <p:spPr>
          <a:xfrm>
            <a:off x="8046720" y="5559552"/>
            <a:ext cx="329184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20" y="5559552"/>
            <a:ext cx="3291840" cy="109728"/>
          </a:xfrm>
          <a:prstGeom prst="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7200" y="6035040"/>
            <a:ext cx="11274552" cy="548640"/>
          </a:xfrm>
          <a:prstGeom prst="round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080760"/>
            <a:ext cx="11091672" cy="457200"/>
          </a:xfrm>
          <a:prstGeom prst="rect">
            <a:avLst/>
          </a:prstGeom>
          <a:noFill/>
        </p:spPr>
        <p:txBody>
          <a:bodyPr wrap="none">
            <a:spAutoFit/>
          </a:bodyPr>
          <a:lstStyle/>
          <a:p>
            <a:pPr algn="ctr"/>
            <a:r>
              <a:rPr b="1" sz="1600">
                <a:solidFill>
                  <a:srgbClr val="FFFFFF"/>
                </a:solidFill>
              </a:rPr>
              <a:t>💡 Bí kíp: Đừng lãng phí Token vào lời cầu xin. Hãy đầu tư vào Cấu trúc (Role - Task -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